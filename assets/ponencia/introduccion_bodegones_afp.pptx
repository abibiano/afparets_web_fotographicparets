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86" r:id="rId2"/>
    <p:sldId id="418" r:id="rId3"/>
    <p:sldId id="398" r:id="rId4"/>
    <p:sldId id="402" r:id="rId5"/>
    <p:sldId id="403" r:id="rId6"/>
    <p:sldId id="404" r:id="rId7"/>
    <p:sldId id="405" r:id="rId8"/>
    <p:sldId id="406" r:id="rId9"/>
    <p:sldId id="399" r:id="rId10"/>
    <p:sldId id="407" r:id="rId11"/>
    <p:sldId id="408" r:id="rId12"/>
    <p:sldId id="409" r:id="rId13"/>
    <p:sldId id="410" r:id="rId14"/>
    <p:sldId id="400" r:id="rId15"/>
    <p:sldId id="411" r:id="rId16"/>
    <p:sldId id="412" r:id="rId17"/>
    <p:sldId id="413" r:id="rId18"/>
    <p:sldId id="414" r:id="rId19"/>
    <p:sldId id="415" r:id="rId20"/>
    <p:sldId id="360" r:id="rId21"/>
    <p:sldId id="41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96" d="100"/>
          <a:sy n="296" d="100"/>
        </p:scale>
        <p:origin x="7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Bibiano" userId="14d2c2c8eb1278de" providerId="LiveId" clId="{D59CA604-5B1C-59C6-96F7-5CC0C1AC753E}"/>
    <pc:docChg chg="modSld">
      <pc:chgData name="Alex Bibiano" userId="14d2c2c8eb1278de" providerId="LiveId" clId="{D59CA604-5B1C-59C6-96F7-5CC0C1AC753E}" dt="2026-04-09T09:14:09.474" v="5" actId="1035"/>
      <pc:docMkLst>
        <pc:docMk/>
      </pc:docMkLst>
      <pc:sldChg chg="modSp mod">
        <pc:chgData name="Alex Bibiano" userId="14d2c2c8eb1278de" providerId="LiveId" clId="{D59CA604-5B1C-59C6-96F7-5CC0C1AC753E}" dt="2026-04-09T09:14:09.474" v="5" actId="1035"/>
        <pc:sldMkLst>
          <pc:docMk/>
          <pc:sldMk cId="476685154" sldId="403"/>
        </pc:sldMkLst>
        <pc:spChg chg="mod">
          <ac:chgData name="Alex Bibiano" userId="14d2c2c8eb1278de" providerId="LiveId" clId="{D59CA604-5B1C-59C6-96F7-5CC0C1AC753E}" dt="2026-04-09T09:14:09.474" v="5" actId="1035"/>
          <ac:spMkLst>
            <pc:docMk/>
            <pc:sldMk cId="476685154" sldId="403"/>
            <ac:spMk id="5" creationId="{8655C9E2-EB57-4F27-860B-D9267E0673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87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ca-ES" sz="40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 a la</a:t>
            </a:r>
            <a:endParaRPr lang="ca-ES" sz="4000" noProof="0" dirty="0"/>
          </a:p>
          <a:p>
            <a:pPr marL="0" indent="0" algn="l">
              <a:lnSpc>
                <a:spcPct val="110000"/>
              </a:lnSpc>
              <a:buNone/>
            </a:pPr>
            <a:r>
              <a:rPr lang="ca-ES" sz="40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Fotografia de Bodegons</a:t>
            </a:r>
            <a:endParaRPr lang="ca-ES" sz="40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a-ES" sz="2000" i="1" noProof="0" dirty="0">
                <a:solidFill>
                  <a:srgbClr val="D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l'objecte quotidià a l'obra d'art</a:t>
            </a:r>
            <a:endParaRPr lang="ca-ES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731519" y="3657599"/>
            <a:ext cx="4021909" cy="45719"/>
          </a:xfrm>
          <a:prstGeom prst="rect">
            <a:avLst/>
          </a:prstGeom>
          <a:solidFill>
            <a:srgbClr val="C4A57B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AFP — Associació Fotogràfica Parets</a:t>
            </a:r>
            <a:endParaRPr lang="ca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Alex Bibiano · Abril 2026</a:t>
            </a:r>
            <a:endParaRPr lang="ca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AF9245D-3394-051B-B2B0-1DDAA0132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365760"/>
            <a:ext cx="825500" cy="825500"/>
          </a:xfrm>
          <a:prstGeom prst="ellipse">
            <a:avLst/>
          </a:prstGeom>
          <a:ln w="19050">
            <a:solidFill>
              <a:srgbClr val="C4945A"/>
            </a:solidFill>
          </a:ln>
        </p:spPr>
      </p:pic>
    </p:spTree>
    <p:extLst>
      <p:ext uri="{BB962C8B-B14F-4D97-AF65-F5344CB8AC3E}">
        <p14:creationId xmlns:p14="http://schemas.microsoft.com/office/powerpoint/2010/main" val="25409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1" name="Title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>
              <a:buNone/>
            </a:pPr>
            <a:r>
              <a:rPr lang="ca-ES" sz="2800" b="1" dirty="0">
                <a:solidFill>
                  <a:srgbClr val="1A1410"/>
                </a:solidFill>
                <a:latin typeface="Georgia"/>
              </a:rPr>
              <a:t>Índex</a:t>
            </a:r>
          </a:p>
        </p:txBody>
      </p:sp>
      <p:sp>
        <p:nvSpPr>
          <p:cNvPr id="60" name="Circ0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>
              <a:buNone/>
            </a:pPr>
            <a:r>
              <a:rPr lang="ca-ES" sz="1600" b="1" dirty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70" name="Sec0"/>
          <p:cNvSpPr/>
          <p:nvPr/>
        </p:nvSpPr>
        <p:spPr>
          <a:xfrm>
            <a:off x="1463040" y="118872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ca-ES" sz="2000" b="1" dirty="0">
                <a:solidFill>
                  <a:srgbClr val="1A1410"/>
                </a:solidFill>
                <a:latin typeface="Georgia"/>
              </a:rPr>
              <a:t>Què és un bodegó?</a:t>
            </a:r>
          </a:p>
          <a:p>
            <a:pPr algn="l">
              <a:buNone/>
            </a:pPr>
            <a:r>
              <a:rPr lang="ca-ES" sz="1400" dirty="0">
                <a:solidFill>
                  <a:srgbClr val="8B6E4E"/>
                </a:solidFill>
                <a:latin typeface="Verdana"/>
              </a:rPr>
              <a:t>Definició, orígens pictòrics, gèneres i límits</a:t>
            </a:r>
          </a:p>
        </p:txBody>
      </p:sp>
      <p:sp>
        <p:nvSpPr>
          <p:cNvPr id="61" name="Circ1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>
              <a:buNone/>
            </a:pPr>
            <a:r>
              <a:rPr lang="ca-ES" sz="1600" b="1" dirty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71" name="Sec1"/>
          <p:cNvSpPr/>
          <p:nvPr/>
        </p:nvSpPr>
        <p:spPr>
          <a:xfrm>
            <a:off x="1463040" y="219456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ca-ES" sz="2000" b="1" dirty="0">
                <a:solidFill>
                  <a:srgbClr val="1A1410"/>
                </a:solidFill>
                <a:latin typeface="Georgia"/>
              </a:rPr>
              <a:t>Composició i elements visuals</a:t>
            </a:r>
          </a:p>
          <a:p>
            <a:pPr algn="l">
              <a:buNone/>
            </a:pPr>
            <a:r>
              <a:rPr lang="ca-ES" sz="1400" dirty="0">
                <a:solidFill>
                  <a:srgbClr val="8B6E4E"/>
                </a:solidFill>
                <a:latin typeface="Verdana"/>
              </a:rPr>
              <a:t>Regles de composició, llum, color, narrativa i objectes</a:t>
            </a:r>
          </a:p>
        </p:txBody>
      </p:sp>
      <p:sp>
        <p:nvSpPr>
          <p:cNvPr id="62" name="Circ2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>
              <a:buNone/>
            </a:pPr>
            <a:r>
              <a:rPr lang="ca-ES" sz="1600" b="1" dirty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72" name="Sec2"/>
          <p:cNvSpPr/>
          <p:nvPr/>
        </p:nvSpPr>
        <p:spPr>
          <a:xfrm>
            <a:off x="1463040" y="32004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ca-ES" sz="2000" b="1" dirty="0">
                <a:solidFill>
                  <a:srgbClr val="1A1410"/>
                </a:solidFill>
                <a:latin typeface="Georgia"/>
              </a:rPr>
              <a:t>Tècnica i preparació</a:t>
            </a:r>
          </a:p>
          <a:p>
            <a:pPr algn="l">
              <a:buNone/>
            </a:pPr>
            <a:r>
              <a:rPr lang="ca-ES" sz="1400" dirty="0">
                <a:solidFill>
                  <a:srgbClr val="8B6E4E"/>
                </a:solidFill>
                <a:latin typeface="Verdana"/>
              </a:rPr>
              <a:t>Il·luminació, càmera, focals, muntatge i sessió pràctica</a:t>
            </a:r>
          </a:p>
        </p:txBody>
      </p:sp>
    </p:spTree>
    <p:extLst>
      <p:ext uri="{BB962C8B-B14F-4D97-AF65-F5344CB8AC3E}">
        <p14:creationId xmlns:p14="http://schemas.microsoft.com/office/powerpoint/2010/main" val="2875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1" name="SectionNum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>
              <a:buNone/>
            </a:pPr>
            <a:r>
              <a:rPr lang="ca-ES" sz="6000" b="1" dirty="0">
                <a:solidFill>
                  <a:srgbClr val="C4945A"/>
                </a:solidFill>
                <a:latin typeface="Georgia"/>
              </a:rPr>
              <a:t>01</a:t>
            </a:r>
          </a:p>
        </p:txBody>
      </p:sp>
      <p:sp>
        <p:nvSpPr>
          <p:cNvPr id="52" name="SectionTitle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ca-ES" sz="3200" b="1" dirty="0">
                <a:solidFill>
                  <a:srgbClr val="F0E8DD"/>
                </a:solidFill>
                <a:latin typeface="Georgia"/>
              </a:rPr>
              <a:t>Què és un bodegó?</a:t>
            </a:r>
          </a:p>
        </p:txBody>
      </p:sp>
      <p:sp>
        <p:nvSpPr>
          <p:cNvPr id="53" name="Line"/>
          <p:cNvSpPr/>
          <p:nvPr/>
        </p:nvSpPr>
        <p:spPr>
          <a:xfrm>
            <a:off x="731520" y="2240280"/>
            <a:ext cx="2286000" cy="27432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827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32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Què és un bodegó?</a:t>
            </a:r>
            <a:endParaRPr lang="ca-E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i="1" noProof="0" dirty="0" err="1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</a:t>
            </a:r>
            <a:r>
              <a:rPr lang="ca-ES" sz="1400" i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ca-ES" sz="1400" i="1" noProof="0" dirty="0" err="1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</a:t>
            </a:r>
            <a:r>
              <a:rPr lang="ca-ES" sz="1400" i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Natura Morta</a:t>
            </a:r>
            <a:endParaRPr lang="ca-ES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solidFill>
            <a:srgbClr val="2D2318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7132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ca-ES" sz="15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Gènere fotogràfic que consisteix a </a:t>
            </a:r>
            <a:r>
              <a:rPr lang="ca-ES" sz="1500" b="1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capturar imatges d'objectes inanimats </a:t>
            </a:r>
            <a:r>
              <a:rPr lang="ca-ES" sz="15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fruites, flors, objectes casolans, eines, productes — disposats artísticament per crear una composició harmoniosa </a:t>
            </a:r>
            <a:r>
              <a:rPr lang="ca-ES" sz="1500" b="1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 intenció estètica, narrativa o simbòlica</a:t>
            </a:r>
            <a:r>
              <a:rPr lang="ca-ES" sz="15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ca-ES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4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gènere amb moltes cares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Del tenebrisme de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Caravaggio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fins a les composicions lluminoses de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Chardin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Morandi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Qualsevol tema i estètica; l'únic requisit: intenció artística.</a:t>
            </a:r>
          </a:p>
          <a:p>
            <a:pPr marL="0" indent="0">
              <a:lnSpc>
                <a:spcPct val="100000"/>
              </a:lnSpc>
              <a:buNone/>
            </a:pPr>
            <a:endParaRPr lang="ca-ES" sz="600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ca-ES" sz="14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Orígens pictòrics i </a:t>
            </a:r>
            <a:r>
              <a:rPr lang="ca-ES" sz="1400" b="1" i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vanitas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Mestres com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Sánchez Cotán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Zurbarán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Claesz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Kalf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van establir les convencions: llum dramàtica, simbolisme, atemporalitat.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subgènere </a:t>
            </a:r>
            <a:r>
              <a:rPr lang="ca-ES" sz="1200" b="1" i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vanitas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recorda que tot és efímer — cada objecte és un símbol: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crani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mort,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espelma apagada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vida que s'extingeix,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rellotge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temps, </a:t>
            </a:r>
            <a:r>
              <a:rPr lang="ca-ES" sz="1200" b="1" noProof="0" dirty="0">
                <a:solidFill>
                  <a:srgbClr val="3A2E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fruita marcida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decadència.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2290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1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793AE3-0349-4D9F-A890-682D9DF9A293}"/>
              </a:ext>
            </a:extLst>
          </p:cNvPr>
          <p:cNvSpPr txBox="1"/>
          <p:nvPr/>
        </p:nvSpPr>
        <p:spPr>
          <a:xfrm>
            <a:off x="736600" y="279400"/>
            <a:ext cx="7683500" cy="596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ca-ES" sz="2800" b="1" dirty="0">
                <a:solidFill>
                  <a:srgbClr val="F0E8DD"/>
                </a:solidFill>
                <a:latin typeface="Georgia"/>
              </a:rPr>
              <a:t>Referència clàssica: el bodegó barroc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55C9E2-EB57-4F27-860B-D9267E0673F0}"/>
              </a:ext>
            </a:extLst>
          </p:cNvPr>
          <p:cNvSpPr txBox="1"/>
          <p:nvPr/>
        </p:nvSpPr>
        <p:spPr>
          <a:xfrm>
            <a:off x="736600" y="4714108"/>
            <a:ext cx="768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ca-ES" sz="1100" i="1" noProof="0" dirty="0">
                <a:solidFill>
                  <a:srgbClr val="A89880"/>
                </a:solidFill>
                <a:latin typeface="Verdana" pitchFamily="34" charset="0"/>
              </a:rPr>
              <a:t>Mestres espanyols del s. XVII — austeritat, llum dramàtica i objectes quotidians elevats a art.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CDC6E4-95E1-343E-2C00-8E8E1C64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222829"/>
            <a:ext cx="3253221" cy="24831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258C61-9D06-C318-6EA1-982A07FE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626" y="876300"/>
            <a:ext cx="2067183" cy="15234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37368A4-31D7-2300-EF35-A01132C48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626" y="2782583"/>
            <a:ext cx="3106058" cy="170509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7A45013-9676-4D34-BD40-85E3038E42F9}"/>
              </a:ext>
            </a:extLst>
          </p:cNvPr>
          <p:cNvSpPr txBox="1"/>
          <p:nvPr/>
        </p:nvSpPr>
        <p:spPr>
          <a:xfrm>
            <a:off x="736600" y="37084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ca-ES" sz="1000" i="1" noProof="0" dirty="0">
                <a:solidFill>
                  <a:srgbClr val="D0C0A8"/>
                </a:solidFill>
                <a:latin typeface="Georgia" pitchFamily="34" charset="0"/>
              </a:rPr>
              <a:t>Bodegó amb caça, verdura i fruita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a-ES" sz="900" noProof="0" dirty="0">
                <a:solidFill>
                  <a:srgbClr val="A89880"/>
                </a:solidFill>
                <a:latin typeface="Verdana" pitchFamily="34" charset="0"/>
              </a:rPr>
              <a:t>Sánchez Cotán, c. 1602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A4FE107-B303-4038-89A2-FF4564B13F79}"/>
              </a:ext>
            </a:extLst>
          </p:cNvPr>
          <p:cNvSpPr txBox="1"/>
          <p:nvPr/>
        </p:nvSpPr>
        <p:spPr>
          <a:xfrm>
            <a:off x="4927600" y="2425700"/>
            <a:ext cx="3111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D0C0A8"/>
                </a:solidFill>
                <a:latin typeface="Georgia" pitchFamily="34" charset="0"/>
              </a:rPr>
              <a:t>Bodegón con alcachofas, flores y recipientes de vidrio</a:t>
            </a:r>
            <a:r>
              <a:rPr lang="ca-ES" sz="900" noProof="0" dirty="0">
                <a:solidFill>
                  <a:srgbClr val="A89880"/>
                </a:solidFill>
                <a:latin typeface="Verdana" pitchFamily="34" charset="0"/>
              </a:rPr>
              <a:t> — Van der Hamen y León, 1627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241048-7236-4DE1-9A0A-94E810B4A911}"/>
              </a:ext>
            </a:extLst>
          </p:cNvPr>
          <p:cNvSpPr txBox="1"/>
          <p:nvPr/>
        </p:nvSpPr>
        <p:spPr>
          <a:xfrm>
            <a:off x="4927600" y="4525778"/>
            <a:ext cx="311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ca-ES" sz="900" i="1" noProof="0" dirty="0">
                <a:solidFill>
                  <a:srgbClr val="D0C0A8"/>
                </a:solidFill>
                <a:latin typeface="Georgia" pitchFamily="34" charset="0"/>
              </a:rPr>
              <a:t>Bodegón con cacharros</a:t>
            </a:r>
            <a:r>
              <a:rPr lang="ca-ES" sz="900" noProof="0" dirty="0">
                <a:solidFill>
                  <a:srgbClr val="A89880"/>
                </a:solidFill>
                <a:latin typeface="Verdana" pitchFamily="34" charset="0"/>
              </a:rPr>
              <a:t> — Zurbarán, c. 1650</a:t>
            </a:r>
          </a:p>
        </p:txBody>
      </p:sp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766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s'acaba el bodegó?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468880" cy="376718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468880" cy="4572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Bodegó </a:t>
            </a:r>
            <a:r>
              <a:rPr lang="ca-ES" sz="14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</a:t>
            </a:r>
            <a:r>
              <a:rPr lang="ca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Art</a:t>
            </a:r>
            <a:endParaRPr lang="ca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658368" y="1600200"/>
            <a:ext cx="224942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Expressió artística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personal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Narrativa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simbolisme, emoció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Il·luminació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intencionada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Composició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acurada amb intenció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Objectes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triats per valor estètic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Fotògraf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 a autor/artista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Galeria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 concurs</a:t>
            </a:r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468880" cy="376718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468880" cy="457200"/>
          </a:xfrm>
          <a:prstGeom prst="rect">
            <a:avLst/>
          </a:prstGeom>
          <a:solidFill>
            <a:srgbClr val="8F4F49"/>
          </a:solidFill>
          <a:ln/>
        </p:spPr>
        <p:txBody>
          <a:bodyPr/>
          <a:lstStyle/>
          <a:p>
            <a:endParaRPr lang="ca-ES" noProof="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4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r>
              <a:rPr lang="ca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ca-ES" sz="14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</a:t>
            </a:r>
            <a:endParaRPr lang="ca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3447288" y="1600200"/>
            <a:ext cx="224942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Apetit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 a objectiu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Colors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vius i saturats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Clau alta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llum natural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Ingredients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frescos i perfectes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Food styling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estilisme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Editorial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xarxes socials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 a protagonista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468880" cy="376718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468880" cy="45720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Fotografia de Producte</a:t>
            </a:r>
            <a:endParaRPr lang="ca-E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236208" y="1600200"/>
            <a:ext cx="224942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Vendre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producte específic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Fons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neutre i net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Il·luminació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uniforme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nou i perfecte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Marca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visible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Catàleg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e-commerce</a:t>
            </a:r>
          </a:p>
          <a:p>
            <a:pPr marL="228600" indent="-228600">
              <a:lnSpc>
                <a:spcPct val="10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1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Producte</a:t>
            </a: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 a protagonista</a:t>
            </a: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745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Frame3">
            <a:extLst>
              <a:ext uri="{FF2B5EF4-FFF2-40B4-BE49-F238E27FC236}">
                <a16:creationId xmlns:a16="http://schemas.microsoft.com/office/drawing/2014/main" id="{7D7342F1-5B69-476D-81A6-93D7918BF028}"/>
              </a:ext>
            </a:extLst>
          </p:cNvPr>
          <p:cNvSpPr/>
          <p:nvPr/>
        </p:nvSpPr>
        <p:spPr>
          <a:xfrm>
            <a:off x="6121400" y="1371600"/>
            <a:ext cx="2463800" cy="2349500"/>
          </a:xfrm>
          <a:prstGeom prst="rect">
            <a:avLst/>
          </a:prstGeom>
          <a:solidFill>
            <a:srgbClr val="3A2E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7" name="ImageFrame2">
            <a:extLst>
              <a:ext uri="{FF2B5EF4-FFF2-40B4-BE49-F238E27FC236}">
                <a16:creationId xmlns:a16="http://schemas.microsoft.com/office/drawing/2014/main" id="{9E52D77A-42A4-441D-B8DF-D1141F1B842E}"/>
              </a:ext>
            </a:extLst>
          </p:cNvPr>
          <p:cNvSpPr/>
          <p:nvPr/>
        </p:nvSpPr>
        <p:spPr>
          <a:xfrm>
            <a:off x="3340100" y="1371600"/>
            <a:ext cx="2463800" cy="2349500"/>
          </a:xfrm>
          <a:prstGeom prst="rect">
            <a:avLst/>
          </a:prstGeom>
          <a:solidFill>
            <a:srgbClr val="3A2E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4" name="ImageFrame1">
            <a:extLst>
              <a:ext uri="{FF2B5EF4-FFF2-40B4-BE49-F238E27FC236}">
                <a16:creationId xmlns:a16="http://schemas.microsoft.com/office/drawing/2014/main" id="{CD54BB76-0181-4B3B-88C5-84483ED3DE08}"/>
              </a:ext>
            </a:extLst>
          </p:cNvPr>
          <p:cNvSpPr/>
          <p:nvPr/>
        </p:nvSpPr>
        <p:spPr>
          <a:xfrm>
            <a:off x="546100" y="1371600"/>
            <a:ext cx="2463800" cy="2349500"/>
          </a:xfrm>
          <a:prstGeom prst="rect">
            <a:avLst/>
          </a:prstGeom>
          <a:solidFill>
            <a:srgbClr val="3A2E2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705604-0506-431F-9995-7F642C2A80DF}"/>
              </a:ext>
            </a:extLst>
          </p:cNvPr>
          <p:cNvSpPr txBox="1"/>
          <p:nvPr/>
        </p:nvSpPr>
        <p:spPr>
          <a:xfrm>
            <a:off x="736600" y="279400"/>
            <a:ext cx="7683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2800" b="1">
                <a:solidFill>
                  <a:srgbClr val="1A1410"/>
                </a:solidFill>
                <a:latin typeface="Georgia"/>
              </a:rPr>
              <a:t>Exemples visuals dels tres gèneres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4BD9AA-1236-4E98-8DA1-EFA9F4B4BBA6}"/>
              </a:ext>
            </a:extLst>
          </p:cNvPr>
          <p:cNvSpPr/>
          <p:nvPr/>
        </p:nvSpPr>
        <p:spPr>
          <a:xfrm>
            <a:off x="546100" y="914400"/>
            <a:ext cx="2463800" cy="406400"/>
          </a:xfrm>
          <a:prstGeom prst="rect">
            <a:avLst/>
          </a:prstGeom>
          <a:solidFill>
            <a:srgbClr val="8B6E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  <a:latin typeface="Georgia"/>
              </a:rPr>
              <a:t>Bodegó fine art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001F76-BDB6-4920-834A-BFE86943F9B9}"/>
              </a:ext>
            </a:extLst>
          </p:cNvPr>
          <p:cNvSpPr/>
          <p:nvPr/>
        </p:nvSpPr>
        <p:spPr>
          <a:xfrm>
            <a:off x="3340100" y="914400"/>
            <a:ext cx="2463800" cy="406400"/>
          </a:xfrm>
          <a:prstGeom prst="rect">
            <a:avLst/>
          </a:prstGeom>
          <a:solidFill>
            <a:srgbClr val="8F4F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  <a:latin typeface="Georgia"/>
              </a:rPr>
              <a:t>Food photography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04C1B6-88E1-45C1-9535-D2FE6B054013}"/>
              </a:ext>
            </a:extLst>
          </p:cNvPr>
          <p:cNvSpPr/>
          <p:nvPr/>
        </p:nvSpPr>
        <p:spPr>
          <a:xfrm>
            <a:off x="6121400" y="914400"/>
            <a:ext cx="2463800" cy="406400"/>
          </a:xfrm>
          <a:prstGeom prst="rect">
            <a:avLst/>
          </a:prstGeom>
          <a:solidFill>
            <a:srgbClr val="5A7A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  <a:latin typeface="Georgia"/>
              </a:rPr>
              <a:t>Fotografia de producte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2936028-DD4E-0F81-C2B4-3A8F4A8BA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46" y="1435100"/>
            <a:ext cx="1780106" cy="22225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769311A-1F48-15CE-578C-6C16A14E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1767416"/>
            <a:ext cx="2336800" cy="155786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A6AE26F-3C1A-B62F-FA76-20BEE87E4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1767416"/>
            <a:ext cx="2336800" cy="155786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5B2B58A-4140-4829-9D57-BD3C7877C1D7}"/>
              </a:ext>
            </a:extLst>
          </p:cNvPr>
          <p:cNvSpPr txBox="1"/>
          <p:nvPr/>
        </p:nvSpPr>
        <p:spPr>
          <a:xfrm>
            <a:off x="546100" y="3810000"/>
            <a:ext cx="2463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</a:rPr>
              <a:t>Llum dramàtica lateral, objectes amb pàtina, narració simbòlica</a:t>
            </a:r>
          </a:p>
          <a:p>
            <a:pPr algn="l">
              <a:spcBef>
                <a:spcPts val="200"/>
              </a:spcBef>
            </a:pPr>
            <a:r>
              <a:rPr lang="ca-ES" sz="900" i="1" noProof="0" dirty="0">
                <a:solidFill>
                  <a:srgbClr val="8B6E4E"/>
                </a:solidFill>
                <a:latin typeface="Verdana" pitchFamily="34" charset="0"/>
              </a:rPr>
              <a:t>Foto: Harold Ross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22E3A9A-CCDF-4325-8F2E-67EF8E2C1CCE}"/>
              </a:ext>
            </a:extLst>
          </p:cNvPr>
          <p:cNvSpPr txBox="1"/>
          <p:nvPr/>
        </p:nvSpPr>
        <p:spPr>
          <a:xfrm>
            <a:off x="3340100" y="3810000"/>
            <a:ext cx="2463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</a:rPr>
              <a:t>Colors vius, clau alta, ingredients frescos, estilisme de menjar</a:t>
            </a:r>
          </a:p>
          <a:p>
            <a:pPr algn="l">
              <a:spcBef>
                <a:spcPts val="200"/>
              </a:spcBef>
            </a:pPr>
            <a:r>
              <a:rPr lang="ca-ES" sz="900" i="1" noProof="0" dirty="0">
                <a:solidFill>
                  <a:srgbClr val="8B6E4E"/>
                </a:solidFill>
                <a:latin typeface="Verdana" pitchFamily="34" charset="0"/>
              </a:rPr>
              <a:t>Foto: Ella Olsson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3E7A11-6BE4-4255-B437-CC38E065A2A0}"/>
              </a:ext>
            </a:extLst>
          </p:cNvPr>
          <p:cNvSpPr txBox="1"/>
          <p:nvPr/>
        </p:nvSpPr>
        <p:spPr>
          <a:xfrm>
            <a:off x="6121400" y="3810000"/>
            <a:ext cx="2463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ca-ES" sz="1100" noProof="0" dirty="0">
                <a:solidFill>
                  <a:srgbClr val="4D3E30"/>
                </a:solidFill>
                <a:latin typeface="Verdana" pitchFamily="34" charset="0"/>
              </a:rPr>
              <a:t>Fons neutre, il·luminació uniforme, objecte nou i perfecte</a:t>
            </a:r>
          </a:p>
          <a:p>
            <a:pPr algn="l">
              <a:spcBef>
                <a:spcPts val="200"/>
              </a:spcBef>
            </a:pPr>
            <a:r>
              <a:rPr lang="ca-ES" sz="900" i="1" noProof="0" dirty="0">
                <a:solidFill>
                  <a:srgbClr val="8B6E4E"/>
                </a:solidFill>
                <a:latin typeface="Verdana" pitchFamily="34" charset="0"/>
              </a:rPr>
              <a:t>Foto: Noah Erickson</a:t>
            </a:r>
          </a:p>
        </p:txBody>
      </p:sp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6020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Senyals d'alerta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5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 un bodegó deixa de ser-ho?</a:t>
            </a:r>
            <a:endParaRPr lang="ca-ES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A65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Senyals de deriva comercial</a:t>
            </a:r>
            <a:endParaRPr lang="ca-ES" sz="1400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83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Marques comercials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visibles (etiquetes, logos)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42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58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Vendre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producte concret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977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Objectes nous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brillants, sense personalitat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5526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2095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Composició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tipus "recepta" — ingredients alineats</a:t>
            </a: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3075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685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Sense intenció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artística: només mostrar l'objecte</a:t>
            </a:r>
          </a:p>
        </p:txBody>
      </p:sp>
      <p:sp>
        <p:nvSpPr>
          <p:cNvPr id="16" name="Text 9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Senyals de bodegó </a:t>
            </a:r>
            <a:r>
              <a:rPr lang="ca-ES" sz="1400" b="1" noProof="0" dirty="0" err="1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</a:t>
            </a:r>
            <a:r>
              <a:rPr lang="ca-ES" sz="1400" b="1" noProof="0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art</a:t>
            </a:r>
            <a:endParaRPr lang="ca-ES" sz="1400" noProof="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2880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74920" y="17830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Intenció artística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estètica, narrativa o simbolisme</a:t>
            </a: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04288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74920" y="225856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Composició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acurada amb jerarquia visual</a:t>
            </a:r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79776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74920" y="273405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Il·luminació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intencionada (qualsevol estil)</a:t>
            </a:r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55264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74920" y="320954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Objectes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que "dialoguen" — hi ha una història</a:t>
            </a:r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30752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074920" y="36850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Galeria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exposició o concurs</a:t>
            </a:r>
          </a:p>
        </p:txBody>
      </p:sp>
      <p:sp>
        <p:nvSpPr>
          <p:cNvPr id="27" name="Shape 15"/>
          <p:cNvSpPr/>
          <p:nvPr/>
        </p:nvSpPr>
        <p:spPr>
          <a:xfrm>
            <a:off x="731520" y="4210596"/>
            <a:ext cx="7680960" cy="6400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28" name="Text 16"/>
          <p:cNvSpPr/>
          <p:nvPr/>
        </p:nvSpPr>
        <p:spPr>
          <a:xfrm>
            <a:off x="914400" y="42563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4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Consell: Si la teva imatge podria ser un anunci... probablement no és un bodegó.</a:t>
            </a:r>
            <a:endParaRPr lang="ca-ES" sz="1400" noProof="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7708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1" name="Num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>
              <a:buNone/>
            </a:pPr>
            <a:r>
              <a:rPr lang="ca-ES" sz="6000" b="1" dirty="0">
                <a:solidFill>
                  <a:srgbClr val="C4945A"/>
                </a:solidFill>
                <a:latin typeface="Georgia"/>
              </a:rPr>
              <a:t>02</a:t>
            </a:r>
          </a:p>
        </p:txBody>
      </p:sp>
      <p:sp>
        <p:nvSpPr>
          <p:cNvPr id="53" name="Line"/>
          <p:cNvSpPr/>
          <p:nvPr/>
        </p:nvSpPr>
        <p:spPr>
          <a:xfrm>
            <a:off x="731520" y="2240280"/>
            <a:ext cx="2286000" cy="27432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2" name="Title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ca-ES" sz="3200" b="1" dirty="0">
                <a:solidFill>
                  <a:srgbClr val="F0E8DD"/>
                </a:solidFill>
                <a:latin typeface="Georgia"/>
              </a:rPr>
              <a:t>Composició i elements visuals</a:t>
            </a:r>
          </a:p>
        </p:txBody>
      </p:sp>
    </p:spTree>
    <p:extLst>
      <p:ext uri="{BB962C8B-B14F-4D97-AF65-F5344CB8AC3E}">
        <p14:creationId xmlns:p14="http://schemas.microsoft.com/office/powerpoint/2010/main" val="392866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Composició: principis clau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Protagonista clar</a:t>
            </a:r>
            <a:endParaRPr lang="ca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Defineix UN subjecte principal. La resta hi donen suport, no competeixen. Si dos objectes tenen el mateix pes visual, la imatge no té centre.</a:t>
            </a:r>
            <a:endParaRPr lang="ca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Estructura geomètrica</a:t>
            </a:r>
            <a:endParaRPr lang="ca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3990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Organitza en triangle, diagonal o corba. Evita l'alineació horitzontal plana (tots els objectes en fila).</a:t>
            </a:r>
            <a:endParaRPr lang="ca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Profunditat amb plans Z</a:t>
            </a:r>
            <a:endParaRPr lang="ca-E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26791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Separa objectes en primer pla (Z1), pla mitjà (Z2) i fons (Z3).</a:t>
            </a:r>
            <a:endParaRPr lang="ca-ES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Solapament controlat</a:t>
            </a:r>
            <a:endParaRPr lang="ca-ES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26791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Els objectes s'han de solapar parcialment per crear profunditat.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Sense solapament = aplanament visual.</a:t>
            </a:r>
            <a:endParaRPr lang="ca-ES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Variació d'alçades</a:t>
            </a:r>
            <a:endParaRPr lang="ca-ES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39593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objecte alt, un de mitjà, un de baix. Alçades iguals creen monotonia.</a:t>
            </a:r>
            <a:endParaRPr lang="ca-ES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Espai negatiu actiu</a:t>
            </a:r>
            <a:endParaRPr lang="ca-ES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4937760" y="39593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40-60% de l'enquadrament buit. No és farciment: és atmosfera, respiració visual.</a:t>
            </a:r>
            <a:endParaRPr lang="ca-ES" sz="1200" noProof="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7738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Composició: errors freqüents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8F4F49"/>
          </a:solidFill>
          <a:ln/>
        </p:spPr>
        <p:txBody>
          <a:bodyPr/>
          <a:lstStyle/>
          <a:p>
            <a:endParaRPr lang="ca-ES" noProof="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Tangències</a:t>
            </a:r>
            <a:endParaRPr lang="ca-ES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 que toca un altre o la vora sense superposar-se ni separar-se. Crea tensió visual i aplana la imatge.</a:t>
            </a:r>
            <a:endParaRPr lang="ca-ES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b="1" i="1" noProof="0" dirty="0">
                <a:solidFill>
                  <a:srgbClr val="6B8F7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Solució: Separar 2 cm o superposar clarament</a:t>
            </a:r>
            <a:endParaRPr lang="ca-ES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8F4F49"/>
          </a:solidFill>
          <a:ln/>
        </p:spPr>
        <p:txBody>
          <a:bodyPr/>
          <a:lstStyle/>
          <a:p>
            <a:endParaRPr lang="ca-ES" noProof="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Compressió per perspectiva</a:t>
            </a:r>
            <a:endParaRPr lang="ca-ES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 apuntar un objecte directament cap a la càmera: la forma es comprimeix i es perd la identitat de l'objecte. Ningú reconeixerà què és.</a:t>
            </a:r>
            <a:endParaRPr lang="ca-ES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b="1" i="1" noProof="0" dirty="0">
                <a:solidFill>
                  <a:srgbClr val="6B8F7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Solució: Girar l'objecte 30-45° respecte a l'eix òptic</a:t>
            </a:r>
            <a:endParaRPr lang="ca-ES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3931920" cy="411480"/>
          </a:xfrm>
          <a:prstGeom prst="rect">
            <a:avLst/>
          </a:prstGeom>
          <a:solidFill>
            <a:srgbClr val="8F4F49"/>
          </a:solidFill>
          <a:ln/>
        </p:spPr>
        <p:txBody>
          <a:bodyPr/>
          <a:lstStyle/>
          <a:p>
            <a:endParaRPr lang="ca-ES" noProof="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Càmera no anivellada</a:t>
            </a:r>
            <a:endParaRPr lang="ca-ES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vora de la taula apareix inclinada, les verticals convergeixen. Error bàsic que es detecta immediatament.</a:t>
            </a:r>
            <a:endParaRPr lang="ca-ES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858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b="1" i="1" noProof="0" dirty="0">
                <a:solidFill>
                  <a:srgbClr val="6B8F7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Solució: Usar nivell de bombolla o guies en Live </a:t>
            </a:r>
            <a:r>
              <a:rPr lang="ca-ES" sz="1200" b="1" i="1" noProof="0" dirty="0" err="1">
                <a:solidFill>
                  <a:srgbClr val="6B8F7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View</a:t>
            </a:r>
            <a:endParaRPr lang="ca-ES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3931920" cy="411480"/>
          </a:xfrm>
          <a:prstGeom prst="rect">
            <a:avLst/>
          </a:prstGeom>
          <a:solidFill>
            <a:srgbClr val="8F4F49"/>
          </a:solidFill>
          <a:ln/>
        </p:spPr>
        <p:txBody>
          <a:bodyPr/>
          <a:lstStyle/>
          <a:p>
            <a:endParaRPr lang="ca-ES" noProof="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9204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Aglomeració</a:t>
            </a:r>
            <a:endParaRPr lang="ca-ES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Massa objectes sense jerarquia. La vista no sap on posar-se. Si no pots assenyalar UN protagonista, n'hi ha massa.</a:t>
            </a:r>
            <a:endParaRPr lang="ca-ES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89204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b="1" i="1" noProof="0" dirty="0">
                <a:solidFill>
                  <a:srgbClr val="6B8F7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Solució: Màxim 3-5 elements amb jerarquia clara</a:t>
            </a:r>
            <a:endParaRPr lang="ca-ES" sz="1200" noProof="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0783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Llum, color i narrativa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11430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Direcció de la llum</a:t>
            </a:r>
            <a:endParaRPr lang="ca-ES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45° lateral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des de dalt → revela volum i textura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</a:rPr>
              <a:t>Llum frontal aplana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llum lateral modela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L'ombra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és tan important com la llum: dóna profunditat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11430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54864" cy="11430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Paleta cromàtica</a:t>
            </a:r>
            <a:endParaRPr lang="ca-ES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2-3 tons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dominants màxim (ocres + sienes + accent fred)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Colors </a:t>
            </a:r>
            <a:r>
              <a:rPr lang="ca-ES" sz="120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</a:rPr>
              <a:t>càlids avancen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freds retrocedeixen → crear profunditat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dirty="0" err="1">
                <a:solidFill>
                  <a:srgbClr val="F0E8DD"/>
                </a:solidFill>
                <a:latin typeface="Verdana" pitchFamily="34" charset="0"/>
                <a:ea typeface="Verdana" pitchFamily="34" charset="-122"/>
              </a:rPr>
              <a:t>Desaturar</a:t>
            </a:r>
            <a:r>
              <a:rPr lang="ca-ES" sz="1200" b="1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</a:rPr>
              <a:t> colors 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intensos per a sensació pictòrica</a:t>
            </a:r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11430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4864" cy="11430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Narrativa i simbolisme</a:t>
            </a:r>
            <a:endParaRPr lang="ca-ES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Propòsit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cada objecte ha d'aportar; si no, es treu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Diàleg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entre objectes (espelma + rellotge = pas del temps)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</a:rPr>
              <a:t>Coherència temàtica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no barrejar èpoques sense intenció</a:t>
            </a: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845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 d'objectes: què funciona?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600" b="1" noProof="0" dirty="0" err="1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</a:t>
            </a:r>
            <a:r>
              <a:rPr lang="ca-ES" sz="16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compatibilitat</a:t>
            </a:r>
            <a:endParaRPr lang="ca-ES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Bef>
                <a:spcPts val="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Superfície mat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 semi-mat? (evitar brillantors)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Colors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apagats/desaturats?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Sense marques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comercials visibles?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Textura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interessant? (pàtina, gra, oxidació)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Escala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apropiada per a la composició?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Verdana"/>
              <a:buChar char="✓"/>
            </a:pPr>
            <a:r>
              <a:rPr lang="ca-ES" sz="1200" b="1" noProof="0" dirty="0">
                <a:solidFill>
                  <a:srgbClr val="1A141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Atemporalitat</a:t>
            </a:r>
            <a:r>
              <a:rPr lang="ca-ES" sz="1200" noProof="0" dirty="0">
                <a:solidFill>
                  <a:srgbClr val="4D3E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? (evitar objectes contemporanis)</a:t>
            </a:r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que funcionen bé</a:t>
            </a:r>
            <a:endParaRPr lang="ca-ES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4846320" y="1359264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8" name="Text 6"/>
          <p:cNvSpPr/>
          <p:nvPr/>
        </p:nvSpPr>
        <p:spPr>
          <a:xfrm>
            <a:off x="4937760" y="13775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Metalls patinats</a:t>
            </a:r>
            <a:endParaRPr lang="ca-ES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6537960" y="137755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Llautó, coure, ferro oxidat, estany</a:t>
            </a:r>
            <a:endParaRPr lang="ca-ES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798176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8164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Fusta envellida</a:t>
            </a:r>
            <a:endParaRPr lang="ca-ES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537960" y="1816464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Posts, troncs, eines amb mànec</a:t>
            </a:r>
            <a:endParaRPr lang="ca-ES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846320" y="2237088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4937760" y="2255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Ceràmica artesanal</a:t>
            </a:r>
            <a:endParaRPr lang="ca-ES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537960" y="2255376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Plats esmaltats, gerres de fang</a:t>
            </a:r>
            <a:endParaRPr lang="ca-ES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2676000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26942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Cristall fosc</a:t>
            </a:r>
            <a:endParaRPr lang="ca-ES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537960" y="2694288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Ampolles d'ambre, vidre bufat</a:t>
            </a:r>
            <a:endParaRPr lang="ca-ES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846320" y="3114912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1332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Teles naturals</a:t>
            </a:r>
            <a:endParaRPr lang="ca-ES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6537960" y="313320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Lli, arpillera, teles tenyides amb història</a:t>
            </a:r>
            <a:endParaRPr lang="ca-ES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846320" y="3553824"/>
            <a:ext cx="38404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3" name="Text 21"/>
          <p:cNvSpPr/>
          <p:nvPr/>
        </p:nvSpPr>
        <p:spPr>
          <a:xfrm>
            <a:off x="4937760" y="35721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8B6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Orgànics amb caràcter</a:t>
            </a:r>
            <a:endParaRPr lang="ca-ES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537960" y="3572112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Fruita passada, flors seques, pa dur</a:t>
            </a:r>
            <a:endParaRPr lang="ca-ES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7955280" cy="914400"/>
          </a:xfrm>
          <a:prstGeom prst="rect">
            <a:avLst/>
          </a:prstGeom>
          <a:solidFill>
            <a:srgbClr val="2D2318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3977640"/>
            <a:ext cx="54864" cy="9144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7" name="Text 25"/>
          <p:cNvSpPr/>
          <p:nvPr/>
        </p:nvSpPr>
        <p:spPr>
          <a:xfrm>
            <a:off x="960120" y="4023360"/>
            <a:ext cx="7543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100" b="1" noProof="0" dirty="0">
                <a:solidFill>
                  <a:srgbClr val="C4945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Objectes reflectants (vidre, cristall, metall polit): </a:t>
            </a: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També es poden usar, però requereixen tècniques especials. Il·luminació lateral per revelar només contorns i siluetes. Difusors (</a:t>
            </a:r>
            <a:r>
              <a:rPr lang="ca-ES" sz="1100" noProof="0" dirty="0" err="1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scrim</a:t>
            </a: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entre la llum i l'objecte per suavitzar reflexos. Evitar il·luminació directa frontal. El repte està a controlar els reflexos especulars, no a evitar aquests materials.</a:t>
            </a:r>
            <a:endParaRPr lang="ca-ES" sz="1100" noProof="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8473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1" name="Num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>
              <a:buNone/>
            </a:pPr>
            <a:r>
              <a:rPr lang="ca-ES" sz="6000" b="1" dirty="0">
                <a:solidFill>
                  <a:srgbClr val="C4945A"/>
                </a:solidFill>
                <a:latin typeface="Georgia"/>
              </a:rPr>
              <a:t>03</a:t>
            </a:r>
          </a:p>
        </p:txBody>
      </p:sp>
      <p:sp>
        <p:nvSpPr>
          <p:cNvPr id="53" name="Line"/>
          <p:cNvSpPr/>
          <p:nvPr/>
        </p:nvSpPr>
        <p:spPr>
          <a:xfrm>
            <a:off x="731520" y="2240280"/>
            <a:ext cx="2286000" cy="27432"/>
          </a:xfrm>
          <a:prstGeom prst="rect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52" name="Title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ca-ES" sz="3200" b="1" dirty="0">
                <a:solidFill>
                  <a:srgbClr val="F0E8DD"/>
                </a:solidFill>
                <a:latin typeface="Georgia"/>
              </a:rPr>
              <a:t>Tècnica i preparació</a:t>
            </a:r>
          </a:p>
        </p:txBody>
      </p:sp>
    </p:spTree>
    <p:extLst>
      <p:ext uri="{BB962C8B-B14F-4D97-AF65-F5344CB8AC3E}">
        <p14:creationId xmlns:p14="http://schemas.microsoft.com/office/powerpoint/2010/main" val="347454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Muntatge del set de bodegó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ca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Superfície / </a:t>
            </a:r>
            <a:r>
              <a:rPr lang="ca-ES" sz="1400" b="1" noProof="0" dirty="0" err="1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</a:t>
            </a:r>
            <a:endParaRPr lang="ca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Taula, post o banc rústic visible. És “l'escenari</a:t>
            </a:r>
            <a:r>
              <a:rPr lang="ca-ES" sz="120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</a:t>
            </a: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on reposen els objectes. Sense ell, els objectes suren.</a:t>
            </a:r>
            <a:endParaRPr lang="ca-ES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ca-ES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8862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Fons</a:t>
            </a:r>
            <a:endParaRPr lang="ca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Separat ~1 metre darrere del subjecte. Més fosc i desenfocat que el primer pla. Textura subtil, mai protagonista.</a:t>
            </a:r>
            <a:endParaRPr lang="ca-ES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118872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6" name="Text 14"/>
          <p:cNvSpPr/>
          <p:nvPr/>
        </p:nvSpPr>
        <p:spPr>
          <a:xfrm>
            <a:off x="62636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ca-ES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67208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Subjecte principal</a:t>
            </a:r>
            <a:endParaRPr lang="ca-ES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Col·locat primer. Defineix el centre de gravetat de la composició. Tota la resta es construeix al voltant.</a:t>
            </a:r>
            <a:endParaRPr lang="ca-ES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Shape 18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ca-ES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10515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Elements secundaris</a:t>
            </a:r>
            <a:endParaRPr lang="ca-ES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Donen suport al protagonista. Variar alçades, solapar parcialment. Crear diàleg visual amb el subjecte.</a:t>
            </a:r>
            <a:endParaRPr lang="ca-ES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5" name="Shape 23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6" name="Text 24"/>
          <p:cNvSpPr/>
          <p:nvPr/>
        </p:nvSpPr>
        <p:spPr>
          <a:xfrm>
            <a:off x="34290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ca-ES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3886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Teles i textures</a:t>
            </a:r>
            <a:endParaRPr lang="ca-ES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342900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Funció de massa lateral, transició o suport. No com a superfície sota el subjecte (aplana). 1.5-2 stops per sota del subjecte.</a:t>
            </a:r>
            <a:endParaRPr lang="ca-ES" sz="1200" noProof="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30" name="Shape 28"/>
          <p:cNvSpPr/>
          <p:nvPr/>
        </p:nvSpPr>
        <p:spPr>
          <a:xfrm>
            <a:off x="6263640" y="3154680"/>
            <a:ext cx="365760" cy="365760"/>
          </a:xfrm>
          <a:prstGeom prst="ellipse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1" name="Text 29"/>
          <p:cNvSpPr/>
          <p:nvPr/>
        </p:nvSpPr>
        <p:spPr>
          <a:xfrm>
            <a:off x="6263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ca-ES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67208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 final</a:t>
            </a:r>
            <a:endParaRPr lang="ca-ES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Comprovar tangències, anivellament de càmera, espai negatiu, que cap objecte toqui la vora de l'enquadrament.</a:t>
            </a:r>
            <a:endParaRPr lang="ca-ES" sz="1200" noProof="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62161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Tècniques d'il·luminació per a bodegó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i="1" noProof="0" dirty="0">
                <a:solidFill>
                  <a:srgbClr val="A8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tècnica té avantatges i inconvenients — no n'hi ha una de "millor"</a:t>
            </a:r>
            <a:endParaRPr lang="ca-ES" sz="14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234440"/>
          <a:ext cx="8229600" cy="2697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200" b="1" noProof="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Tècnica</a:t>
                      </a:r>
                      <a:endParaRPr lang="ca-ES" sz="12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200" b="1" noProof="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Avantatges</a:t>
                      </a:r>
                      <a:endParaRPr lang="ca-ES" sz="12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200" b="1" noProof="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Inconvenients</a:t>
                      </a:r>
                      <a:endParaRPr lang="ca-ES" sz="12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E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100" b="1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Flash d'estudi</a:t>
                      </a:r>
                      <a:endParaRPr lang="ca-ES" sz="11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Potència alta, repetible, congela moviment, modificadors disponibles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 veus el resultat fins després, corba d'aprenentatge, equip costós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100" b="1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Llum contínua</a:t>
                      </a:r>
                      <a:endParaRPr lang="ca-ES" sz="11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WYSIWYG (veus el que obtens), ideal per aprendre, econòmica, fàcil de modificar en temps real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Menys potència que flash, pot escalfar, velocitats lentes → trípode obligatori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100" b="1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Light </a:t>
                      </a:r>
                      <a:r>
                        <a:rPr lang="ca-ES" sz="1100" b="1" noProof="0" dirty="0" err="1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Painting</a:t>
                      </a:r>
                      <a:endParaRPr lang="ca-ES" sz="11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 total sobre cada zona, revela textures com cap altra tècnica, resultat pictòric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Requereix foscor total, exposicions llargues, múltiples preses, edició complexa en capes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100" b="1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Focus </a:t>
                      </a:r>
                      <a:r>
                        <a:rPr lang="ca-ES" sz="1100" b="1" noProof="0" dirty="0" err="1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Stacking</a:t>
                      </a:r>
                      <a:endParaRPr lang="ca-ES" sz="11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Nitidesa total de Z1 a Z3, obertura òptima sense sacrificar </a:t>
                      </a:r>
                      <a:r>
                        <a:rPr lang="ca-ES" sz="1000" noProof="0" dirty="0" err="1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DoF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ca-ES" sz="1000" noProof="0" dirty="0">
                          <a:solidFill>
                            <a:srgbClr val="F0E8D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Múltiples preses, subjectes immòbils, programari d'apilat necessari, possibles artefactes</a:t>
                      </a:r>
                      <a:endParaRPr lang="ca-ES" sz="1000" noProof="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E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4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 sessió pràctica treballarem amb llum contínua i provarem focus </a:t>
            </a:r>
            <a:r>
              <a:rPr lang="ca-ES" sz="1400" i="1" noProof="0" dirty="0" err="1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r>
              <a:rPr lang="ca-ES" sz="14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 aconseguir nitidesa total de primer pla a fons.</a:t>
            </a:r>
            <a:endParaRPr lang="ca-ES" sz="1400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5898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 de càmera per a bodegó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4572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Balanç de Blancs</a:t>
            </a:r>
            <a:endParaRPr lang="ca-ES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Realitzar balanç de blancs personalitzat amb carta de grisos per a cada font de llum. Mai deixar en automàtic: cada font té una temperatura diferent.</a:t>
            </a:r>
            <a:endParaRPr lang="ca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Obertura recomanada</a:t>
            </a:r>
            <a:endParaRPr lang="ca-ES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f/8 és el punt dolç en la majoria d'òptiques: màxima nitidesa, mínima difracció. f/5.6 per a menor </a:t>
            </a:r>
            <a:r>
              <a:rPr lang="ca-ES" sz="1200" noProof="0" dirty="0" err="1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DoF</a:t>
            </a: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A partir de f/11 es perd nitidesa per difracció.</a:t>
            </a:r>
            <a:endParaRPr lang="ca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457200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</a:t>
            </a:r>
            <a:endParaRPr lang="ca-ES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Sempre ISO base de la càmera (100, 64 o 160 segons el model). Estem en trípode, no necessitem pujar ISO. Màxima qualitat, mínim soroll.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solidFill>
            <a:srgbClr val="7A5F43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de disparament</a:t>
            </a:r>
            <a:endParaRPr lang="ca-ES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Manual. Trípode estable i pesat. Disparador remot o temporitzador per evitar vibració. Desactivar estabilitzador d'imatge.</a:t>
            </a:r>
            <a:endParaRPr lang="ca-ES" sz="1200" noProof="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08533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Focals i angle de presa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Focals recomanades</a:t>
            </a:r>
            <a:endParaRPr lang="ca-ES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657600" cy="4114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435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50mm</a:t>
            </a:r>
            <a:endParaRPr lang="ca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1691640" y="14356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Versàtil, bona per sets amplis. Lleugera distorsió.</a:t>
            </a:r>
            <a:endParaRPr lang="ca-ES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657600" cy="4114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85-100mm</a:t>
            </a:r>
            <a:endParaRPr lang="ca-E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1691640" y="1938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Ideal per bodegó. Mínima distorsió, bona distància (~2m).</a:t>
            </a:r>
            <a:endParaRPr lang="ca-ES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657600" cy="4114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100mm Macro</a:t>
            </a:r>
            <a:endParaRPr lang="ca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1691640" y="2441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Detalls extrems de textura. Profunditat reduïda.</a:t>
            </a:r>
            <a:endParaRPr lang="ca-ES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657600" cy="4114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2944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135mm+</a:t>
            </a:r>
            <a:endParaRPr lang="ca-ES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1691640" y="29443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1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Més compressió, fons desenfocat. Cal més espai.</a:t>
            </a:r>
            <a:endParaRPr lang="ca-ES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de presa</a:t>
            </a:r>
            <a:endParaRPr lang="ca-ES" sz="1600" noProof="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840480" cy="96012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54864" cy="960120"/>
          </a:xfrm>
          <a:prstGeom prst="rect">
            <a:avLst/>
          </a:prstGeom>
          <a:solidFill>
            <a:srgbClr val="6B8F71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1444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Presa Frontal (0-15°)</a:t>
            </a:r>
            <a:endParaRPr lang="ca-ES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Càmera a l'alçada del bodegó. La més clàssica. Mostra “</a:t>
            </a:r>
            <a:r>
              <a:rPr lang="ca-ES" sz="1200" noProof="0" dirty="0" err="1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l'stage</a:t>
            </a:r>
            <a:r>
              <a:rPr lang="ca-ES" sz="120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</a:t>
            </a: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(superfície de taula), crea profunditat. Requereix anivellar acuradament.</a:t>
            </a:r>
            <a:endParaRPr lang="ca-ES" sz="1200" noProof="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840480" cy="96012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54864" cy="96012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4" name="Text 22"/>
          <p:cNvSpPr/>
          <p:nvPr/>
        </p:nvSpPr>
        <p:spPr>
          <a:xfrm>
            <a:off x="4937760" y="2542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Superior (30-45°)</a:t>
            </a:r>
            <a:endParaRPr lang="ca-ES" sz="1400" noProof="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Intermedi entre frontal i </a:t>
            </a:r>
            <a:r>
              <a:rPr lang="ca-ES" sz="1200" noProof="0" dirty="0" err="1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cenital</a:t>
            </a: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Revela la part superior dels objectes mantenint una mica de fons. Molt natural: simula la perspectiva humana mirant una taula.</a:t>
            </a:r>
            <a:endParaRPr lang="ca-ES" sz="1200" noProof="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3840480" cy="96012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54864" cy="96012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8" name="Text 26"/>
          <p:cNvSpPr/>
          <p:nvPr/>
        </p:nvSpPr>
        <p:spPr>
          <a:xfrm>
            <a:off x="4937760" y="3639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 err="1">
                <a:solidFill>
                  <a:srgbClr val="5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Cenital</a:t>
            </a:r>
            <a:r>
              <a:rPr lang="ca-ES" sz="1400" b="1" noProof="0" dirty="0">
                <a:solidFill>
                  <a:srgbClr val="5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Flat </a:t>
            </a:r>
            <a:r>
              <a:rPr lang="ca-ES" sz="1400" b="1" noProof="0" dirty="0" err="1">
                <a:solidFill>
                  <a:srgbClr val="5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</a:t>
            </a:r>
            <a:r>
              <a:rPr lang="ca-ES" sz="1400" b="1" noProof="0" dirty="0">
                <a:solidFill>
                  <a:srgbClr val="5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(90°)</a:t>
            </a:r>
            <a:endParaRPr lang="ca-ES" sz="1400" noProof="0" dirty="0"/>
          </a:p>
        </p:txBody>
      </p:sp>
      <p:sp>
        <p:nvSpPr>
          <p:cNvPr id="29" name="Text 27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Càmera perpendicular mirant cap avall. Elimina el fons: tota la composició en un pla. Ideal per a objectes plans. Si uses zoom, fixar focal amb cinta.</a:t>
            </a:r>
            <a:endParaRPr lang="ca-ES" sz="1200" noProof="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71455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Preparació per a la sessió pràctica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i="1" noProof="0" dirty="0">
                <a:solidFill>
                  <a:srgbClr val="A8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i configuració per a la setmana vinent</a:t>
            </a:r>
            <a:endParaRPr lang="ca-ES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necessari</a:t>
            </a:r>
            <a:endParaRPr lang="ca-ES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Càmera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amb mode manual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Objectiu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50mm, 85mm o 100mm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Trípode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estable (imprescindible)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Disparador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remot o temporitzador 2s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Carta de grisos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a balanç de blancs</a:t>
            </a:r>
          </a:p>
          <a:p>
            <a:pPr marL="228600" indent="-228600">
              <a:lnSpc>
                <a:spcPct val="100000"/>
              </a:lnSpc>
              <a:spcBef>
                <a:spcPts val="400"/>
              </a:spcBef>
              <a:buFont typeface="Verdana"/>
              <a:buChar char="▸"/>
            </a:pPr>
            <a:r>
              <a:rPr lang="ca-ES" sz="12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Objectes</a:t>
            </a:r>
            <a:r>
              <a:rPr lang="ca-ES" sz="12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personals amb història</a:t>
            </a:r>
          </a:p>
        </p:txBody>
      </p:sp>
      <p:sp>
        <p:nvSpPr>
          <p:cNvPr id="7" name="Text 5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5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Tècniques que provarem</a:t>
            </a:r>
            <a:endParaRPr lang="ca-ES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4851400" y="1511300"/>
            <a:ext cx="3835400" cy="7366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51400" y="1511300"/>
            <a:ext cx="50800" cy="7366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5029200" y="1587500"/>
            <a:ext cx="347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Llum contínua</a:t>
            </a:r>
            <a:endParaRPr lang="ca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5029200" y="1816100"/>
            <a:ext cx="347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Treballarem amb panells LED. WYSIWYG: veus el resultat en temps real.</a:t>
            </a:r>
            <a:endParaRPr lang="ca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851400" y="2349500"/>
            <a:ext cx="3835400" cy="7366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51400" y="2349500"/>
            <a:ext cx="50800" cy="7366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2425700"/>
            <a:ext cx="347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</a:t>
            </a:r>
            <a:r>
              <a:rPr lang="ca-ES" sz="1400" b="1" noProof="0" dirty="0" err="1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endParaRPr lang="ca-E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0" y="2654300"/>
            <a:ext cx="347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Múltiples preses variant l'enfocament per nitidesa total. Ho provarem.</a:t>
            </a:r>
            <a:endParaRPr lang="ca-ES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851400" y="3187700"/>
            <a:ext cx="3835400" cy="7366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51400" y="3187700"/>
            <a:ext cx="50800" cy="73660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Text 16"/>
          <p:cNvSpPr/>
          <p:nvPr/>
        </p:nvSpPr>
        <p:spPr>
          <a:xfrm>
            <a:off x="5029200" y="3263900"/>
            <a:ext cx="347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noProof="0" dirty="0" err="1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Tethering</a:t>
            </a:r>
            <a:r>
              <a:rPr lang="ca-ES" sz="14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(opcional)</a:t>
            </a:r>
            <a:endParaRPr lang="ca-ES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0" y="3492500"/>
            <a:ext cx="347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Connectar càmera a ordinador per Live View (Capture One o programari propi).</a:t>
            </a:r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96200" cy="77470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165600"/>
            <a:ext cx="7315200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ca-ES" sz="1200" b="1" noProof="0" dirty="0">
                <a:solidFill>
                  <a:srgbClr val="C4945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Focus Stacking des de la càmera: </a:t>
            </a:r>
            <a:r>
              <a:rPr lang="ca-ES" sz="12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Moltes càmeres inclouen bracketing d'enfocament automàtic (Sony: Focus Bracket, Canon: Focus Bracketing, Nikon: Focus Shift). Apilat posterior amb Photoshop, Helicon Focus o Zerene Stacker.</a:t>
            </a: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900" name="ProgressDot0"/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1" name="ProgressDot1"/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902" name="ProgressDot2"/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91733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32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Consell final</a:t>
            </a:r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2011680"/>
          </a:xfrm>
          <a:prstGeom prst="rect">
            <a:avLst/>
          </a:prstGeom>
          <a:solidFill>
            <a:srgbClr val="4D3E30"/>
          </a:solidFill>
          <a:ln/>
        </p:spPr>
        <p:txBody>
          <a:bodyPr/>
          <a:lstStyle/>
          <a:p>
            <a:endParaRPr lang="ca-ES" noProof="0" dirty="0">
              <a:solidFill>
                <a:srgbClr val="F0E8DD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73152" cy="2011680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20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"Fes una foto de prova en blanc i negre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ca-ES" sz="20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avaluar només llum i forma.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ca-ES" sz="2000" i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funciona sense color, la composició és sòlida."</a:t>
            </a:r>
          </a:p>
          <a:p>
            <a:pPr marL="0" indent="0" algn="l">
              <a:lnSpc>
                <a:spcPct val="100000"/>
              </a:lnSpc>
              <a:buNone/>
            </a:pPr>
            <a:endParaRPr lang="ca-ES" sz="20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300" noProof="0" dirty="0">
                <a:solidFill>
                  <a:srgbClr val="A8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Principi clàssic de composició de bodegons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160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65760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Menys és més</a:t>
            </a:r>
            <a:r>
              <a:rPr lang="ca-ES" sz="14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pocs objectes, ben triats, amb jerarquia clara</a:t>
            </a:r>
            <a:endParaRPr lang="ca-ES" sz="1400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3308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406908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llum modela</a:t>
            </a:r>
            <a:r>
              <a:rPr lang="ca-ES" sz="14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és la teva eina més important</a:t>
            </a:r>
            <a:endParaRPr lang="ca-ES" sz="140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445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44805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objecte explica una història</a:t>
            </a:r>
            <a:r>
              <a:rPr lang="ca-ES" sz="1400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si no aporta, sobra</a:t>
            </a:r>
            <a:endParaRPr lang="ca-ES" sz="140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sp>
        <p:nvSpPr>
          <p:cNvPr id="14" name="ProgressDot0">
            <a:extLst>
              <a:ext uri="{FF2B5EF4-FFF2-40B4-BE49-F238E27FC236}">
                <a16:creationId xmlns:a16="http://schemas.microsoft.com/office/drawing/2014/main" id="{F175074C-AF75-AF18-9B6A-98289ADCA22C}"/>
              </a:ext>
            </a:extLst>
          </p:cNvPr>
          <p:cNvSpPr/>
          <p:nvPr/>
        </p:nvSpPr>
        <p:spPr>
          <a:xfrm>
            <a:off x="43688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15" name="ProgressDot1">
            <a:extLst>
              <a:ext uri="{FF2B5EF4-FFF2-40B4-BE49-F238E27FC236}">
                <a16:creationId xmlns:a16="http://schemas.microsoft.com/office/drawing/2014/main" id="{64EAC092-C043-B36D-A410-E173835CD409}"/>
              </a:ext>
            </a:extLst>
          </p:cNvPr>
          <p:cNvSpPr/>
          <p:nvPr/>
        </p:nvSpPr>
        <p:spPr>
          <a:xfrm>
            <a:off x="4572000" y="4937760"/>
            <a:ext cx="101600" cy="101600"/>
          </a:xfrm>
          <a:prstGeom prst="ellipse">
            <a:avLst/>
          </a:prstGeom>
          <a:solidFill>
            <a:srgbClr val="8B6E4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  <p:sp>
        <p:nvSpPr>
          <p:cNvPr id="16" name="ProgressDot2">
            <a:extLst>
              <a:ext uri="{FF2B5EF4-FFF2-40B4-BE49-F238E27FC236}">
                <a16:creationId xmlns:a16="http://schemas.microsoft.com/office/drawing/2014/main" id="{B6998457-084B-DD59-16B8-93FF6BE4C829}"/>
              </a:ext>
            </a:extLst>
          </p:cNvPr>
          <p:cNvSpPr/>
          <p:nvPr/>
        </p:nvSpPr>
        <p:spPr>
          <a:xfrm>
            <a:off x="4775200" y="4937760"/>
            <a:ext cx="101600" cy="101600"/>
          </a:xfrm>
          <a:prstGeom prst="ellipse">
            <a:avLst/>
          </a:prstGeom>
          <a:solidFill>
            <a:srgbClr val="C4945A"/>
          </a:solidFill>
          <a:ln>
            <a:noFill/>
          </a:ln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0365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800" b="1" noProof="0" dirty="0">
                <a:solidFill>
                  <a:srgbClr val="F0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setmana vinent: taller pràctic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6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Llum contínua + focus </a:t>
            </a:r>
            <a:r>
              <a:rPr lang="ca-ES" sz="1600" i="1" noProof="0" dirty="0" err="1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</a:t>
            </a:r>
            <a:r>
              <a:rPr lang="ca-ES" sz="1600" i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l'estudi</a:t>
            </a:r>
            <a:endParaRPr lang="ca-ES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736600" y="1498600"/>
            <a:ext cx="4445000" cy="279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 complet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pas a pas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Llum contínua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amb panells LED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Focus stacking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amb i sense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Balanç de blancs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amb carta de grisos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Manual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trípode + disparador remot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Tethering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amb portàtil (Capture One)</a:t>
            </a:r>
          </a:p>
          <a:p>
            <a:pPr marL="342900" indent="-342900">
              <a:lnSpc>
                <a:spcPct val="120000"/>
              </a:lnSpc>
              <a:spcBef>
                <a:spcPts val="500"/>
              </a:spcBef>
              <a:buFont typeface="Verdana"/>
              <a:buChar char="▸"/>
            </a:pPr>
            <a:r>
              <a:rPr lang="ca-ES" sz="1400" b="1" noProof="0" dirty="0">
                <a:solidFill>
                  <a:srgbClr val="F0E8D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Revisió</a:t>
            </a:r>
            <a:r>
              <a:rPr lang="ca-ES" sz="1400" noProof="0" dirty="0">
                <a:solidFill>
                  <a:srgbClr val="D0C0A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 avaluació immediata en pantalla</a:t>
            </a:r>
          </a:p>
        </p:txBody>
      </p:sp>
      <p:sp>
        <p:nvSpPr>
          <p:cNvPr id="6" name="Text 4"/>
          <p:cNvSpPr/>
          <p:nvPr/>
        </p:nvSpPr>
        <p:spPr>
          <a:xfrm>
            <a:off x="736600" y="4635500"/>
            <a:ext cx="7683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600" b="1" noProof="0" dirty="0">
                <a:solidFill>
                  <a:srgbClr val="C4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Porteu els vostres objectes amb història!</a:t>
            </a:r>
            <a:endParaRPr lang="ca-ES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945A"/>
          </a:solidFill>
          <a:ln/>
        </p:spPr>
        <p:txBody>
          <a:bodyPr/>
          <a:lstStyle/>
          <a:p>
            <a:endParaRPr lang="ca-ES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661400" y="4699000"/>
            <a:ext cx="381000" cy="381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758F1E-4C82-6171-2FF8-CD7DA7A22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50" y="1371600"/>
            <a:ext cx="2095500" cy="2794000"/>
          </a:xfrm>
          <a:prstGeom prst="rect">
            <a:avLst/>
          </a:prstGeom>
          <a:ln w="19050">
            <a:solidFill>
              <a:srgbClr val="C4945A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90CF1DF-F6EA-4B41-9FB3-F47A08564482}"/>
              </a:ext>
            </a:extLst>
          </p:cNvPr>
          <p:cNvSpPr txBox="1"/>
          <p:nvPr/>
        </p:nvSpPr>
        <p:spPr>
          <a:xfrm>
            <a:off x="5937250" y="4216400"/>
            <a:ext cx="2095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ctr">
              <a:buNone/>
            </a:pPr>
            <a:r>
              <a:rPr lang="ca-ES" sz="1000" i="1" noProof="0" dirty="0">
                <a:solidFill>
                  <a:srgbClr val="D0C0A8"/>
                </a:solidFill>
                <a:latin typeface="Georgia" pitchFamily="34" charset="0"/>
              </a:rPr>
              <a:t>El peso del tiempo</a:t>
            </a:r>
          </a:p>
          <a:p>
            <a:pPr marL="0" indent="0" algn="ctr">
              <a:buNone/>
            </a:pPr>
            <a:r>
              <a:rPr lang="ca-ES" sz="900" noProof="0" dirty="0">
                <a:solidFill>
                  <a:srgbClr val="A89880"/>
                </a:solidFill>
                <a:latin typeface="Verdana" pitchFamily="34" charset="0"/>
              </a:rPr>
              <a:t>Alex Bibiano</a:t>
            </a:r>
          </a:p>
        </p:txBody>
      </p:sp>
    </p:spTree>
    <p:extLst>
      <p:ext uri="{BB962C8B-B14F-4D97-AF65-F5344CB8AC3E}">
        <p14:creationId xmlns:p14="http://schemas.microsoft.com/office/powerpoint/2010/main" val="416100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679CBA-BD5D-4827-A226-31CA863FC233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081c24a3-9ea3-44ae-af62-2c909bea9c0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2011</Words>
  <Application>Microsoft Macintosh PowerPoint</Application>
  <PresentationFormat>Presentación en pantalla (16:9)</PresentationFormat>
  <Paragraphs>264</Paragraphs>
  <Slides>21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Georgia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 a la Fotografia de Bodegons</dc:title>
  <dc:subject>PptxGenJS Presentation</dc:subject>
  <dc:creator>Alex Bibiano</dc:creator>
  <cp:lastModifiedBy>Alex Bibiano (Nikel)</cp:lastModifiedBy>
  <cp:revision>6</cp:revision>
  <dcterms:created xsi:type="dcterms:W3CDTF">2026-04-08T09:24:12Z</dcterms:created>
  <dcterms:modified xsi:type="dcterms:W3CDTF">2026-04-09T09:14:14Z</dcterms:modified>
</cp:coreProperties>
</file>